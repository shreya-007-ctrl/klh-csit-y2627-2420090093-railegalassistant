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4" r:id="rId16"/>
    <p:sldId id="275" r:id="rId17"/>
    <p:sldId id="276" r:id="rId18"/>
    <p:sldId id="277" r:id="rId1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9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7275B-EC8D-4A4C-8632-FE5D7CDCECD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E4B32-6A85-489D-897C-0CB2239E0F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26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searchable corpus of court judgments with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legal-aware retrieval using dense + lexical signals.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answers grounded in retrieved passages.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case, paragraph/page and citation evidence to outputs.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quality, answer quality and faithfulness.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prototype for legal research assistance — not autonomous legal decision-making.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similar historical cases for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judgments + statutes + precedents + LLMs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(Pipitone &amp; Houir Alami,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for legal RAG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with facts, statutes and semantically retrieved prior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Backend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for the retrieval-augmented legal assistant</a:t>
            </a:r>
            <a:endParaRPr lang="en-US" sz="1250" dirty="0"/>
          </a:p>
        </p:txBody>
      </p:sp>
      <p:sp>
        <p:nvSpPr>
          <p:cNvPr id="100" name="Header FE"/>
          <p:cNvSpPr/>
          <p:nvPr/>
        </p:nvSpPr>
        <p:spPr>
          <a:xfrm>
            <a:off x="548640" y="124000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1" name="Header BE"/>
          <p:cNvSpPr/>
          <p:nvPr/>
        </p:nvSpPr>
        <p:spPr>
          <a:xfrm>
            <a:off x="6368796" y="1240000"/>
            <a:ext cx="52715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(React)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interface for legal research queries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(FastAPI)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retrieval, generation, verification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Evidence 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answer linked to case, paragraph, citation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embeddings with cross-encoder reranking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Abstain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low-confidence or insufficient-evidence answers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Indexing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legal-aware chunking, BM25 + vector indexing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History Manager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past queries and saved research sessions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Logging 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faithfulness scoring, response logging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backend API; responses return grounded answers with citations and a confidence score.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0799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– Gather court judgments with case and citation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– Apply OCR, text cleaning and legal-structure-aware chunking.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– Build BM25 and vector indexes for lexical and semantic search.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– Combine hybrid top-k retrieval with cross-encoder reranking.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– Use an LLM to generate concise answers from retrieved evidence.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– Check citations, faithfulness and confidence before presenting the answer.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" y="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6"/>
          <p:cNvSpPr/>
          <p:nvPr/>
        </p:nvSpPr>
        <p:spPr>
          <a:xfrm>
            <a:off x="588640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7" name="Text 7"/>
          <p:cNvSpPr/>
          <p:nvPr/>
        </p:nvSpPr>
        <p:spPr>
          <a:xfrm>
            <a:off x="588640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Text 8"/>
          <p:cNvSpPr/>
          <p:nvPr/>
        </p:nvSpPr>
        <p:spPr>
          <a:xfrm>
            <a:off x="3081528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10"/>
          <p:cNvSpPr/>
          <p:nvPr/>
        </p:nvSpPr>
        <p:spPr>
          <a:xfrm>
            <a:off x="3401568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1" name="Text 11"/>
          <p:cNvSpPr/>
          <p:nvPr/>
        </p:nvSpPr>
        <p:spPr>
          <a:xfrm>
            <a:off x="3441568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2" name="Text 12"/>
          <p:cNvSpPr/>
          <p:nvPr/>
        </p:nvSpPr>
        <p:spPr>
          <a:xfrm>
            <a:off x="3441568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3" name="Text 13"/>
          <p:cNvSpPr/>
          <p:nvPr/>
        </p:nvSpPr>
        <p:spPr>
          <a:xfrm>
            <a:off x="5934456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6254496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6" name="Text 16"/>
          <p:cNvSpPr/>
          <p:nvPr/>
        </p:nvSpPr>
        <p:spPr>
          <a:xfrm>
            <a:off x="6294496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7"/>
          <p:cNvSpPr/>
          <p:nvPr/>
        </p:nvSpPr>
        <p:spPr>
          <a:xfrm>
            <a:off x="6294496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8"/>
          <p:cNvSpPr/>
          <p:nvPr/>
        </p:nvSpPr>
        <p:spPr>
          <a:xfrm>
            <a:off x="8787384" y="145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9107424" y="153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" name="Text 21"/>
          <p:cNvSpPr/>
          <p:nvPr/>
        </p:nvSpPr>
        <p:spPr>
          <a:xfrm>
            <a:off x="9147424" y="187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2" name="Text 22"/>
          <p:cNvSpPr/>
          <p:nvPr/>
        </p:nvSpPr>
        <p:spPr>
          <a:xfrm>
            <a:off x="9147424" y="230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4"/>
          <p:cNvSpPr/>
          <p:nvPr/>
        </p:nvSpPr>
        <p:spPr>
          <a:xfrm>
            <a:off x="548640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5" name="Text 25"/>
          <p:cNvSpPr/>
          <p:nvPr/>
        </p:nvSpPr>
        <p:spPr>
          <a:xfrm>
            <a:off x="588640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6" name="Text 26"/>
          <p:cNvSpPr/>
          <p:nvPr/>
        </p:nvSpPr>
        <p:spPr>
          <a:xfrm>
            <a:off x="588640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7"/>
          <p:cNvSpPr/>
          <p:nvPr/>
        </p:nvSpPr>
        <p:spPr>
          <a:xfrm>
            <a:off x="3081528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9"/>
          <p:cNvSpPr/>
          <p:nvPr/>
        </p:nvSpPr>
        <p:spPr>
          <a:xfrm>
            <a:off x="3401568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0" name="Text 30"/>
          <p:cNvSpPr/>
          <p:nvPr/>
        </p:nvSpPr>
        <p:spPr>
          <a:xfrm>
            <a:off x="3441568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1" name="Text 31"/>
          <p:cNvSpPr/>
          <p:nvPr/>
        </p:nvSpPr>
        <p:spPr>
          <a:xfrm>
            <a:off x="3441568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32"/>
          <p:cNvSpPr/>
          <p:nvPr/>
        </p:nvSpPr>
        <p:spPr>
          <a:xfrm>
            <a:off x="5934456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600" dirty="0"/>
          </a:p>
        </p:txBody>
      </p:sp>
      <p:sp>
        <p:nvSpPr>
          <p:cNvPr id="34" name="Text 34"/>
          <p:cNvSpPr/>
          <p:nvPr/>
        </p:nvSpPr>
        <p:spPr>
          <a:xfrm>
            <a:off x="6254496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5" name="Text 35"/>
          <p:cNvSpPr/>
          <p:nvPr/>
        </p:nvSpPr>
        <p:spPr>
          <a:xfrm>
            <a:off x="6294496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6" name="Text 36"/>
          <p:cNvSpPr/>
          <p:nvPr/>
        </p:nvSpPr>
        <p:spPr>
          <a:xfrm>
            <a:off x="6294496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7" name="Text 37"/>
          <p:cNvSpPr/>
          <p:nvPr/>
        </p:nvSpPr>
        <p:spPr>
          <a:xfrm>
            <a:off x="8787384" y="3400000"/>
            <a:ext cx="320040" cy="1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39" name="Text 39"/>
          <p:cNvSpPr/>
          <p:nvPr/>
        </p:nvSpPr>
        <p:spPr>
          <a:xfrm>
            <a:off x="9107424" y="3480000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40" name="Text 40"/>
          <p:cNvSpPr/>
          <p:nvPr/>
        </p:nvSpPr>
        <p:spPr>
          <a:xfrm>
            <a:off x="9147424" y="3820000"/>
            <a:ext cx="2452888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41" name="Text 41"/>
          <p:cNvSpPr/>
          <p:nvPr/>
        </p:nvSpPr>
        <p:spPr>
          <a:xfrm>
            <a:off x="9147424" y="4250000"/>
            <a:ext cx="2452888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5794476" y="3100000"/>
            <a:ext cx="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4" name="Text 44"/>
          <p:cNvSpPr/>
          <p:nvPr/>
        </p:nvSpPr>
        <p:spPr>
          <a:xfrm>
            <a:off x="822960" y="530000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4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46" name="Text 4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61" y="539964"/>
            <a:ext cx="9399230" cy="5720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Tools and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for the retrieval-augmented legal assistant</a:t>
            </a:r>
            <a:endParaRPr lang="en-US" sz="1250" dirty="0"/>
          </a:p>
        </p:txBody>
      </p:sp>
      <p:sp>
        <p:nvSpPr>
          <p:cNvPr id="4" name="Shape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ML/NLP pipeline</a:t>
            </a:r>
            <a:endParaRPr lang="en-US" sz="1050" dirty="0"/>
          </a:p>
        </p:txBody>
      </p:sp>
      <p:sp>
        <p:nvSpPr>
          <p:cNvPr id="7" name="Shape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indexing and similarity search</a:t>
            </a:r>
            <a:endParaRPr lang="en-US" sz="1050" dirty="0"/>
          </a:p>
        </p:txBody>
      </p:sp>
      <p:sp>
        <p:nvSpPr>
          <p:cNvPr id="16" name="Shape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300" dirty="0"/>
          </a:p>
        </p:txBody>
      </p:sp>
      <p:sp>
        <p:nvSpPr>
          <p:cNvPr id="18" name="Text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retrieved passages</a:t>
            </a:r>
            <a:endParaRPr lang="en-US" sz="1050" dirty="0"/>
          </a:p>
        </p:txBody>
      </p:sp>
      <p:sp>
        <p:nvSpPr>
          <p:cNvPr id="19" name="Shape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21" name="Text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Text Cleaning</a:t>
            </a:r>
            <a:endParaRPr lang="en-US" sz="1300" dirty="0"/>
          </a:p>
        </p:txBody>
      </p:sp>
      <p:sp>
        <p:nvSpPr>
          <p:cNvPr id="24" name="Text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and preprocessing</a:t>
            </a:r>
            <a:endParaRPr lang="en-US" sz="1050" dirty="0"/>
          </a:p>
        </p:txBody>
      </p:sp>
      <p:sp>
        <p:nvSpPr>
          <p:cNvPr id="25" name="Shape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7" name="Text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</a:t>
            </a:r>
            <a:endParaRPr lang="en-US" sz="1050" dirty="0"/>
          </a:p>
        </p:txBody>
      </p:sp>
      <p:sp>
        <p:nvSpPr>
          <p:cNvPr id="28" name="Shape"/>
          <p:cNvSpPr/>
          <p:nvPr/>
        </p:nvSpPr>
        <p:spPr>
          <a:xfrm>
            <a:off x="548640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9" name="Text"/>
          <p:cNvSpPr/>
          <p:nvPr/>
        </p:nvSpPr>
        <p:spPr>
          <a:xfrm>
            <a:off x="777240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Text"/>
          <p:cNvSpPr/>
          <p:nvPr/>
        </p:nvSpPr>
        <p:spPr>
          <a:xfrm>
            <a:off x="777240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</a:t>
            </a:r>
            <a:endParaRPr lang="en-US" sz="1050" dirty="0"/>
          </a:p>
        </p:txBody>
      </p:sp>
      <p:sp>
        <p:nvSpPr>
          <p:cNvPr id="31" name="Shape"/>
          <p:cNvSpPr/>
          <p:nvPr/>
        </p:nvSpPr>
        <p:spPr>
          <a:xfrm>
            <a:off x="6368796" y="4581144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32" name="Text"/>
          <p:cNvSpPr/>
          <p:nvPr/>
        </p:nvSpPr>
        <p:spPr>
          <a:xfrm>
            <a:off x="6597396" y="4507992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33" name="Text"/>
          <p:cNvSpPr/>
          <p:nvPr/>
        </p:nvSpPr>
        <p:spPr>
          <a:xfrm>
            <a:off x="6597396" y="48006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 and faithfulness scoring</a:t>
            </a:r>
            <a:endParaRPr lang="en-US" sz="1050" dirty="0"/>
          </a:p>
        </p:txBody>
      </p:sp>
      <p:sp>
        <p:nvSpPr>
          <p:cNvPr id="34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5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3327501"/>
                <a:gridCol w="7764171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and relevance using an expert/rubric-based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and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latency, answer length and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Study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BM25, dense retrieval, hybrid retrieval and reranking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keyword baseline while reducing unsupported generated claims.</a:t>
            </a:r>
            <a:endParaRPr lang="en-US" sz="1250" dirty="0"/>
          </a:p>
        </p:txBody>
      </p:sp>
      <p:sp>
        <p:nvSpPr>
          <p:cNvPr id="6" name="Text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1839</Words>
  <Application>Microsoft Office PowerPoint</Application>
  <PresentationFormat>Custom</PresentationFormat>
  <Paragraphs>344</Paragraphs>
  <Slides>18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2</cp:revision>
  <dcterms:created xsi:type="dcterms:W3CDTF">2026-08-13T05:49:54Z</dcterms:created>
  <dcterms:modified xsi:type="dcterms:W3CDTF">2026-09-17T05:26:30Z</dcterms:modified>
</cp:coreProperties>
</file>