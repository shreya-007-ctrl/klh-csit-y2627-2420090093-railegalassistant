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2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  <Relationship Id="rId20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377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1488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Intelligent Legal Assistant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29260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Court Judgments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3520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Judgments   ·   Hybrid Retrieval   ·   LLM Reasoning   ·   Cited Answer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800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Sahasra – 2420090091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P. Shreya – 2420090093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Gowrie – 2420030298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Ishta – 2420039803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 &amp; 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1907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Intelligent Legal Assistant for Court Judgments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0" y="141732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1719072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judgments are long, citation-heavy and domain-specific. Keyword search can miss semantically related precedents, while standalone LLMs may produce unsupported or hallucinated legal claims.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legal research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access to precedents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answers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67784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analytics challenge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67784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Long-document understanding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terminology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relevance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86928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requirement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6928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claim should be traceable to retrieved judgment passages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should abstain when evidence is weak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1508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searchable corpus of court judgments with metadata.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legal-aware retrieval using dense + lexical signals.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concise answers grounded in retrieved passages.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case, paragraph/page and citation evidence to outputs.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42519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retrieval quality, answer quality and faithfulness.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4937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prototype for legal research assistance — not autonomous legal decision-making.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2743200"/>
                <a:gridCol w="29535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 for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Retrieval for LJP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(Zhang &amp; Dou, 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similar historical cases for judgment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cases improve realism of legal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precedent retrieval as a first-class 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Rethinking Legal Judgment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(Nigam et al., 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judgments + statutes + precedents + LLMs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legal information improves prediction; expert-level reliability remains 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responses in statutes/precedents, avoid overclaiming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LegalBench-RAG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(Pipitone &amp; Houir Alami, 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for legal RAG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snippets are preferable to large imprecise chunks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 passage-level retrieval and citation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NyayaRAG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(Nigam et al., 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with facts, statutes and semantically retrieved prior cases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realistic case context with precedent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Motivates India-focused retrieval + explanation pipeline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gap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semantic search may retrieve topical matches without enough legal relevance, hierarchy or temporal context.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367784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gap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67784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chunks can split holdings, exceptions, citations and procedural context.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86928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86928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fluent answer is not enough; users need claim-level provenance and direct judgment evidence.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gap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needs separate measurement of retrieval relevance, answer correctness and faithfulness.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67784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67784" y="388620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target prediction or retrieval separately; an end-to-end court-judgment assistant must connect ingestion → retrieval → grounded response.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Innovation, Creativity &amp; Novelty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200400" y="150876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retrieval: BM25/keyword + dense embeddings + metadata filters + cross-encoder reranking.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97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00400" y="269748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Legal-structure-aware chunking around case sections, issues, holdings, statutes and cited precedents.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8620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00400" y="388620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Evidence-first answer generation: each claim is linked to retrieved passages; unsupported claims trigger a low-confidence / abstain response.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07492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00400" y="507492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evaluation matrix that separately measures Recall@k / MRR, citation correctness, groundedness, answer relevance and latency.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612648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for court-judgment question answering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Judgments + metadata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30552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50592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05456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05456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text cleaning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32504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52544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2544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07408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07408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 index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34456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4496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top-k + reranking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36408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56448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1312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11312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with retrieved evidence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738360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058400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113264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13264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+ faithfulness check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3794760"/>
            <a:ext cx="11091672" cy="6858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379476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query: </a:t>
            </a:r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precedents support X?”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    </a:t>
            </a:r>
            <a:pPr indent="0" marL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 + confidence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5623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accessible judgment repositories or institution-provided datasets can support a prototype. Start with one jurisdiction/court to control scope.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68796" y="150876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68796" y="185623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sentence-transformers / legal embeddings, BM25, FAISS/Chroma, reranker, and an open or API-based LLM.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7355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can run on a single modern GPU or cloud notebook; retrieval can remain local while generation is modular.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8796" y="292608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68796" y="327355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NLP preprocessing, information retrieval, embeddings, evaluation and prompt engineering — aligned with text analytics.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6177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controls: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citations, confidence thresholds, human verification and an explicit “insufficient evidence” response.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for the retrieval-augmented legal assistant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ML / NLP pipeline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68796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8" name="Text 6"/>
          <p:cNvSpPr/>
          <p:nvPr/>
        </p:nvSpPr>
        <p:spPr>
          <a:xfrm>
            <a:off x="6597396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97396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legal-domain embeddings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/ keyword retrieval signal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8796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4" name="Text 12"/>
          <p:cNvSpPr/>
          <p:nvPr/>
        </p:nvSpPr>
        <p:spPr>
          <a:xfrm>
            <a:off x="6597396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7396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&amp; similarity search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Reorders top-k hybrid results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68796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0" name="Text 18"/>
          <p:cNvSpPr/>
          <p:nvPr/>
        </p:nvSpPr>
        <p:spPr>
          <a:xfrm>
            <a:off x="6597396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(open-source / API)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97396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generation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Text Cleaning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ingestion &amp; preprocessing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68796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6" name="Text 24"/>
          <p:cNvSpPr/>
          <p:nvPr/>
        </p:nvSpPr>
        <p:spPr>
          <a:xfrm>
            <a:off x="6597396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Suite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97396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MRR, faithfulness scoring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 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modern GPU or cloud notebook — retrieval stays local while generation is modular.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Success Criteria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114800"/>
                <a:gridCol w="45079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Recall@k, Precision@k, MRR / nDCG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relevant precedents/passages retrieved?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or rubric-based correctness + relevance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response answer the legal question?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Claim-to-source entailment / citation correctness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claims supported by retrieved evidence?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Latency, answer length, citation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assistant practical for research?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vs dense vs hybrid vs reranker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component contributes most?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evidence retrieval and citation coverage over a simple keyword baseline while reducing unsupported generated claims.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Legal Search vs. This Project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1655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Legal Websites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 (RAG Assistant)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/ Boolean search over full judgments; misses semantically related precedents.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retrieval — BM25 + dense embeddings + metadata filters, refined by reranking.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whole judgments or fixed pages; holdings and exceptions can get split apart.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Legal-structure-aware chunking around issues, holdings, statutes and precedents.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ranked list of documents — the user must read each judgment to find the answer.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concise, generated answer grounded directly in the retrieved passages.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&amp; citations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claim-level links; citations must be located manually inside the judgment.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claim is linked to its case, paragraph/page and citation.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confidence signal — results are shown regardless of relevance.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check with a low-confidence / abstain response when evidence is weak.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9496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legal search returns documents to read — this project returns a grounded, cited, confidence-checked answer.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10-week academic project schedule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literature survey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9842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984248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+ metadata schema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3682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368296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OCR checks + legal-aware chunking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7523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752344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dense retrieval baseline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1363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136392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+ reranker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68796" y="16002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17436" y="1600200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prompt design + citation formatting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68796" y="19842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17436" y="1984248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/ confidence verification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68796" y="23682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17436" y="2368296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ablation experiments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68796" y="27523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17436" y="2752344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+ UI/prototype refinement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68796" y="31363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17436" y="3136392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presentation + demo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retrieval baseline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67784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67784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RAG prototype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86928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86928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final demo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References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legal research assistant that: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court-judgment passages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evidence in plain language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source passages/cases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confidence and uncertainty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human legal research rather than replacing legal judgment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Value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27939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applied ML for text analytics through retrieval, semantic similarity, reranking, generation, evaluation and error analysis.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0" cy="457200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417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173736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Zhang &amp; Dou (2023), Case Retrieval for Legal Judgment Prediction, ACL Anthology.</a:t>
            </a: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Nigam et al. (2024), Rethinking Legal Judgement Prediction in a Realistic Scenario, arXiv.</a:t>
            </a: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Pipitone &amp; Houir Alami (2024), LegalBench-RAG, arXiv.</a:t>
            </a: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Wiggers &amp; Hartz (2024), LeReRAG: Measuring Legal Relevance in RAG Applications, IOS Press.</a:t>
            </a: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Nigam et al. (2025), NyayaRAG: Realistic Legal Judgment Prediction with RAG under the Indian Common Law System, IJCNLP/ACL Anthology.</a:t>
            </a: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Magesh et al. (2024), Hallucination-Free? Assessing the Reliability of Leading AI Legal Research Tools, arXiv.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Backend Requirements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for the retrieval-augmented legal assistant</a:t>
            </a:r>
            <a:endParaRPr lang="en-US" sz="1250" dirty="0"/>
          </a:p>
        </p:txBody>
      </p:sp>
      <p:sp>
        <p:nvSpPr>
          <p:cNvPr id="100" name="Header FE"/>
          <p:cNvSpPr/>
          <p:nvPr/>
        </p:nvSpPr>
        <p:spPr>
          <a:xfrm>
            <a:off x="548640" y="1240000"/>
            <a:ext cx="50429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1" name="Header BE"/>
          <p:cNvSpPr/>
          <p:nvPr/>
        </p:nvSpPr>
        <p:spPr>
          <a:xfrm>
            <a:off x="6368796" y="1240000"/>
            <a:ext cx="5271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(React)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Chat-style interface for legal research queries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68796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8" name="Text 6"/>
          <p:cNvSpPr/>
          <p:nvPr/>
        </p:nvSpPr>
        <p:spPr>
          <a:xfrm>
            <a:off x="6597396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(FastAPI)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97396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for retrieval, generation, verification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&amp; Evidence 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answer linked to case, paragraph, citation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8796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4" name="Text 12"/>
          <p:cNvSpPr/>
          <p:nvPr/>
        </p:nvSpPr>
        <p:spPr>
          <a:xfrm>
            <a:off x="6597396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7396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dense embeddings with cross-encoder reranking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Abstain Display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low-confidence or insufficient-evidence answers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68796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0" name="Text 18"/>
          <p:cNvSpPr/>
          <p:nvPr/>
        </p:nvSpPr>
        <p:spPr>
          <a:xfrm>
            <a:off x="6597396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Indexing Pipeline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97396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legal-aware chunking, BM25 + vector indexing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History Manager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past queries and saved research sessions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68796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6" name="Text 24"/>
          <p:cNvSpPr/>
          <p:nvPr/>
        </p:nvSpPr>
        <p:spPr>
          <a:xfrm>
            <a:off x="6597396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Logging Service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97396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faithfulness scoring, response logging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 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calls the backend API; responses return grounded answers with citations and a confidence score.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2026-08-13T05:49:54Z</dcterms:created>
  <dcterms:modified xsi:type="dcterms:W3CDTF">2026-08-13T05:49:54Z</dcterms:modified>
</cp:coreProperties>
</file>