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1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7275B-EC8D-4A4C-8632-FE5D7CDCECDD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E4B32-6A85-489D-897C-0CB2239E0F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42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377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Intelligent Legal Assistant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Court Judgments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  ·   Hybrid Retrieval   ·   LLM Reasoning   ·   Cited Answer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Sahasra – 2420090091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P. Shreya – 2420090093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Gowrie – 2420030298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Ishta – 2420039803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Legal Assistant for Court Judgments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719072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are long, citation-heavy and domain-specific. Keyword search can miss semantically related precedents, while standalone LLMs may produce unsupported or hallucinated legal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legal research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precedents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7784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understanding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terminology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relevance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6928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6928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should be traceable to retrieved 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should abstain when evidence is weak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searchable corpus of court judgments with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legal-aware retrieval using dense + lexical signals.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answers grounded in retrieved passages.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case, paragraph/page and citation evidence to outputs.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quality, answer quality and faithfulness.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prototype for legal research assistance — not autonomous legal decision-making.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5262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Retrieval for LJP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(Zhang &amp; Dou,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similar historical cases for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cases improve realism of legal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precedent retrieval as a first-class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Rethinking Legal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judgments + statutes + precedents + LLMs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legal information improves prediction; expert-level reliability remains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responses in statutes/precedents, avoid overclaiming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LegalBench-RAG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(Pipitone &amp; Houir Alami,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for legal RAG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snippets are preferable to large imprecise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passage-level retrieval and 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NyayaRAG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with facts, statutes and semantically retrieved prior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realistic case context with precedent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India-focused retrieval + explanation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semantic search may retrieve topical matches without enough legal relevance, hierarchy or temporal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367784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7784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can split holdings, exceptions, citations and procedural context.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6928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6928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is not enough; users need claim-level provenance and direct judgment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needs separate measurement of retrieval relevance, answer correctness and faithfulness.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7784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target prediction or retrieval separately; an end-to-end court-judgment assistant must connect ingestion → retrieval → grounded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00400" y="150876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BM25/keyword + dense embeddings + metadata filters + cross-encoder reranking.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Legal-structure-aware chunking around case sections, issues, holdings, statutes and cited precedents.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 generation: each claim is linked to retrieved passages; unsupported claims trigger a low-confidence / abstain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matrix that separately measures Recall@k / MRR, citation correctness, groundedness, answer relevance and latency.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court-judgment question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+ metadata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50592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05456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32504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52544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54496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top-k + reranking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36408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6448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156448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retrieved evidence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05840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1326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326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faithfulness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1672" cy="6858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22960" y="37947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 </a:t>
            </a: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precedents support X?”</a:t>
            </a: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judgment repositories or institution-provided datasets can support a prototype. Start with one jurisdiction/court to control scope.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68796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8796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sentence-transformers / legal embeddings, BM25, FAISS/Chroma, reranker, and an open or API-based LLM.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can run on a single modern GPU or cloud notebook; retrieval can remain local while generation is modular.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8796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NLP preprocessing, information retrieval, embeddings, evaluation and prompt engineering — aligned with text analytics.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citations, confidence thresholds, human verification and an explicit “insufficient evidence” response.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for the retrieval-augmented legal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ML / NLP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&amp; similarity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top-k hybrid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(open-source /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&amp; preprocessing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faithfulness scoring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modern GPU or cloud notebook — retrieval stays local while generation is modular.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Backend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for the retrieval-augmented legal assistant</a:t>
            </a:r>
            <a:endParaRPr lang="en-US" sz="1250" dirty="0"/>
          </a:p>
        </p:txBody>
      </p:sp>
      <p:sp>
        <p:nvSpPr>
          <p:cNvPr id="100" name="Header FE"/>
          <p:cNvSpPr/>
          <p:nvPr/>
        </p:nvSpPr>
        <p:spPr>
          <a:xfrm>
            <a:off x="548640" y="1240000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1" name="Header BE"/>
          <p:cNvSpPr/>
          <p:nvPr/>
        </p:nvSpPr>
        <p:spPr>
          <a:xfrm>
            <a:off x="6368796" y="1240000"/>
            <a:ext cx="5271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(React)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interface for legal research queries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(FastAPI)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retrieval, generation, verification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Evidence 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answer linked to case, paragraph, citation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embeddings with cross-encoder reranking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Abstain Display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low-confidence or insufficient-evidence answers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Indexing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legal-aware chunking, BM25 + vector indexing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History Manager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past queries and saved research sessions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Logging 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faithfulness scoring, response logging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the backend API; responses return grounded answers with citations and a confidence score.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Success Criteria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relevant precedents/passages retrieved?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or rubric-based correctness +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response answer the legal question?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/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claims supported by retrieved evidence?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answer length,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assistant practical for research?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vs dense vs hybrid vs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contributes most?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simple keyword baseline while reducing unsupported generated claims.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Legal Search vs. This Project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Legal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(RAG Assistant)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Boolean search over full judgments; misses semantically related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— BM25 + dense embeddings + metadata filters, refined by reranking.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whole judgments or fixed pages; holdings and exceptions can get split apart.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Legal-structure-aware chunking around issues, holdings, statutes and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 of documents — the user must read each judgment to find the answer.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concise, generated answer grounded directly in the retrieved passages.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claim-level links; citations must be located manually inside the judgment.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linked to its case, paragraph/page and citation.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signal — results are shown regardless of relevance.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check with a low-confidence / abstain response when evidence is weak.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legal search returns documents to read — this project returns a grounded, cited, confidence-checked answer.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10-week academic project schedule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literature survey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+ metadata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OCR checks + legal-aware 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baseline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8796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17436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 design + citation formatting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8796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7436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confidence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7436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ablation experiments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8796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7436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+ UI/prototype refinement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8796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7436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 +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7784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7784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prototype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6928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6928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final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legal research assistant that: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court-judgment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evidence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passages/cases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confidence and uncertainty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legal research rather than replacing legal judgment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793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ML for text analytics through retrieval, semantic similarity, reranking, generation, evaluation and error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Zhang &amp; Dou (2023), Case Retrieval for Legal Judgment Prediction, 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Nigam et al. (2024), Rethinking Legal Judgement Prediction in a Realistic Scenario,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Pipitone &amp; Houir Alami (2024), LegalBench-RAG,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Wiggers &amp; Hartz (2024), LeReRAG: Measuring Legal Relevance in RAG Applications, IOS Press.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Nigam et al. (2025), NyayaRAG: Realistic Legal Judgment Prediction with RAG under the Indian Common Law System, IJCNLP/ACL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Magesh et al. (2024), Hallucination-Free? Assessing the Reliability of Leading AI Legal Research Tools, arXiv.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– Gather court judgments with case and citation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– Apply OCR, text cleaning and legal-structure-aware chunking.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– Build BM25 and vector indexes for lexical and semantic search.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– Combine hybrid top-k retrieval with cross-encoder reranking.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– Use an LLM to generate concise answers from retrieved evidence.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– Check citations, faithfulness and confidence before presenting the answer.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20" y="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548640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588640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7" name="Text 7"/>
          <p:cNvSpPr/>
          <p:nvPr/>
        </p:nvSpPr>
        <p:spPr>
          <a:xfrm>
            <a:off x="588640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8"/>
          <p:cNvSpPr/>
          <p:nvPr/>
        </p:nvSpPr>
        <p:spPr>
          <a:xfrm>
            <a:off x="3081528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10"/>
          <p:cNvSpPr/>
          <p:nvPr/>
        </p:nvSpPr>
        <p:spPr>
          <a:xfrm>
            <a:off x="3401568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 11"/>
          <p:cNvSpPr/>
          <p:nvPr/>
        </p:nvSpPr>
        <p:spPr>
          <a:xfrm>
            <a:off x="3441568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2" name="Text 12"/>
          <p:cNvSpPr/>
          <p:nvPr/>
        </p:nvSpPr>
        <p:spPr>
          <a:xfrm>
            <a:off x="3441568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3"/>
          <p:cNvSpPr/>
          <p:nvPr/>
        </p:nvSpPr>
        <p:spPr>
          <a:xfrm>
            <a:off x="5934456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5"/>
          <p:cNvSpPr/>
          <p:nvPr/>
        </p:nvSpPr>
        <p:spPr>
          <a:xfrm>
            <a:off x="6254496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6" name="Text 16"/>
          <p:cNvSpPr/>
          <p:nvPr/>
        </p:nvSpPr>
        <p:spPr>
          <a:xfrm>
            <a:off x="6294496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Text 17"/>
          <p:cNvSpPr/>
          <p:nvPr/>
        </p:nvSpPr>
        <p:spPr>
          <a:xfrm>
            <a:off x="6294496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8"/>
          <p:cNvSpPr/>
          <p:nvPr/>
        </p:nvSpPr>
        <p:spPr>
          <a:xfrm>
            <a:off x="8787384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20"/>
          <p:cNvSpPr/>
          <p:nvPr/>
        </p:nvSpPr>
        <p:spPr>
          <a:xfrm>
            <a:off x="9107424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1" name="Text 21"/>
          <p:cNvSpPr/>
          <p:nvPr/>
        </p:nvSpPr>
        <p:spPr>
          <a:xfrm>
            <a:off x="9147424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2" name="Text 22"/>
          <p:cNvSpPr/>
          <p:nvPr/>
        </p:nvSpPr>
        <p:spPr>
          <a:xfrm>
            <a:off x="9147424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4"/>
          <p:cNvSpPr/>
          <p:nvPr/>
        </p:nvSpPr>
        <p:spPr>
          <a:xfrm>
            <a:off x="548640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Text 25"/>
          <p:cNvSpPr/>
          <p:nvPr/>
        </p:nvSpPr>
        <p:spPr>
          <a:xfrm>
            <a:off x="588640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6" name="Text 26"/>
          <p:cNvSpPr/>
          <p:nvPr/>
        </p:nvSpPr>
        <p:spPr>
          <a:xfrm>
            <a:off x="588640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7"/>
          <p:cNvSpPr/>
          <p:nvPr/>
        </p:nvSpPr>
        <p:spPr>
          <a:xfrm>
            <a:off x="3081528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9"/>
          <p:cNvSpPr/>
          <p:nvPr/>
        </p:nvSpPr>
        <p:spPr>
          <a:xfrm>
            <a:off x="3401568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0" name="Text 30"/>
          <p:cNvSpPr/>
          <p:nvPr/>
        </p:nvSpPr>
        <p:spPr>
          <a:xfrm>
            <a:off x="3441568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1" name="Text 31"/>
          <p:cNvSpPr/>
          <p:nvPr/>
        </p:nvSpPr>
        <p:spPr>
          <a:xfrm>
            <a:off x="3441568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2" name="Text 32"/>
          <p:cNvSpPr/>
          <p:nvPr/>
        </p:nvSpPr>
        <p:spPr>
          <a:xfrm>
            <a:off x="5934456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  <a:endParaRPr lang="en-US" sz="1600" dirty="0"/>
          </a:p>
        </p:txBody>
      </p:sp>
      <p:sp>
        <p:nvSpPr>
          <p:cNvPr id="34" name="Text 34"/>
          <p:cNvSpPr/>
          <p:nvPr/>
        </p:nvSpPr>
        <p:spPr>
          <a:xfrm>
            <a:off x="6254496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5" name="Text 35"/>
          <p:cNvSpPr/>
          <p:nvPr/>
        </p:nvSpPr>
        <p:spPr>
          <a:xfrm>
            <a:off x="6294496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6" name="Text 36"/>
          <p:cNvSpPr/>
          <p:nvPr/>
        </p:nvSpPr>
        <p:spPr>
          <a:xfrm>
            <a:off x="6294496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37"/>
          <p:cNvSpPr/>
          <p:nvPr/>
        </p:nvSpPr>
        <p:spPr>
          <a:xfrm>
            <a:off x="8787384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Text 39"/>
          <p:cNvSpPr/>
          <p:nvPr/>
        </p:nvSpPr>
        <p:spPr>
          <a:xfrm>
            <a:off x="9107424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0" name="Text 40"/>
          <p:cNvSpPr/>
          <p:nvPr/>
        </p:nvSpPr>
        <p:spPr>
          <a:xfrm>
            <a:off x="9147424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41" name="Text 41"/>
          <p:cNvSpPr/>
          <p:nvPr/>
        </p:nvSpPr>
        <p:spPr>
          <a:xfrm>
            <a:off x="9147424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2" name="Text 42"/>
          <p:cNvSpPr/>
          <p:nvPr/>
        </p:nvSpPr>
        <p:spPr>
          <a:xfrm>
            <a:off x="5794476" y="3100000"/>
            <a:ext cx="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4" name="Text 44"/>
          <p:cNvSpPr/>
          <p:nvPr/>
        </p:nvSpPr>
        <p:spPr>
          <a:xfrm>
            <a:off x="822960" y="530000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4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46" name="Text 4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861" y="539964"/>
            <a:ext cx="9399230" cy="572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Tools and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for the retrieval-augmented legal assistant</a:t>
            </a:r>
            <a:endParaRPr lang="en-US" sz="1250" dirty="0"/>
          </a:p>
        </p:txBody>
      </p:sp>
      <p:sp>
        <p:nvSpPr>
          <p:cNvPr id="4" name="Shape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ML/NLP pipeline</a:t>
            </a:r>
            <a:endParaRPr lang="en-US" sz="1050" dirty="0"/>
          </a:p>
        </p:txBody>
      </p:sp>
      <p:sp>
        <p:nvSpPr>
          <p:cNvPr id="7" name="Shape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indexing and similarity search</a:t>
            </a:r>
            <a:endParaRPr lang="en-US" sz="1050" dirty="0"/>
          </a:p>
        </p:txBody>
      </p:sp>
      <p:sp>
        <p:nvSpPr>
          <p:cNvPr id="16" name="Shape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300" dirty="0"/>
          </a:p>
        </p:txBody>
      </p:sp>
      <p:sp>
        <p:nvSpPr>
          <p:cNvPr id="18" name="Text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retrieved passages</a:t>
            </a:r>
            <a:endParaRPr lang="en-US" sz="1050" dirty="0"/>
          </a:p>
        </p:txBody>
      </p:sp>
      <p:sp>
        <p:nvSpPr>
          <p:cNvPr id="19" name="Shape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1" name="Text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Text Cleaning</a:t>
            </a:r>
            <a:endParaRPr lang="en-US" sz="1300" dirty="0"/>
          </a:p>
        </p:txBody>
      </p:sp>
      <p:sp>
        <p:nvSpPr>
          <p:cNvPr id="24" name="Text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and preprocessing</a:t>
            </a:r>
            <a:endParaRPr lang="en-US" sz="1050" dirty="0"/>
          </a:p>
        </p:txBody>
      </p:sp>
      <p:sp>
        <p:nvSpPr>
          <p:cNvPr id="25" name="Shape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7" name="Text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</a:t>
            </a:r>
            <a:endParaRPr lang="en-US" sz="1050" dirty="0"/>
          </a:p>
        </p:txBody>
      </p:sp>
      <p:sp>
        <p:nvSpPr>
          <p:cNvPr id="28" name="Shape"/>
          <p:cNvSpPr/>
          <p:nvPr/>
        </p:nvSpPr>
        <p:spPr>
          <a:xfrm>
            <a:off x="548640" y="4581144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"/>
          <p:cNvSpPr/>
          <p:nvPr/>
        </p:nvSpPr>
        <p:spPr>
          <a:xfrm>
            <a:off x="777240" y="4507992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0" name="Text"/>
          <p:cNvSpPr/>
          <p:nvPr/>
        </p:nvSpPr>
        <p:spPr>
          <a:xfrm>
            <a:off x="777240" y="48006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050" dirty="0"/>
          </a:p>
        </p:txBody>
      </p:sp>
      <p:sp>
        <p:nvSpPr>
          <p:cNvPr id="31" name="Shape"/>
          <p:cNvSpPr/>
          <p:nvPr/>
        </p:nvSpPr>
        <p:spPr>
          <a:xfrm>
            <a:off x="6368796" y="4581144"/>
            <a:ext cx="91440" cy="91440"/>
          </a:xfrm>
          <a:prstGeom prst="rect">
            <a:avLst/>
          </a:prstGeom>
          <a:solidFill>
            <a:srgbClr val="8C11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"/>
          <p:cNvSpPr/>
          <p:nvPr/>
        </p:nvSpPr>
        <p:spPr>
          <a:xfrm>
            <a:off x="6597396" y="4507992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33" name="Text"/>
          <p:cNvSpPr/>
          <p:nvPr/>
        </p:nvSpPr>
        <p:spPr>
          <a:xfrm>
            <a:off x="6597396" y="48006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 and faithfulness scoring</a:t>
            </a:r>
            <a:endParaRPr lang="en-US" sz="1050" dirty="0"/>
          </a:p>
        </p:txBody>
      </p:sp>
      <p:sp>
        <p:nvSpPr>
          <p:cNvPr id="34" name="Text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5" name="Text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33275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7641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 and relevance using an expert/rubric-based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and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latency, answer length and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BM25, dense retrieval, hybrid retrieval and reranking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0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keyword baseline while reducing unsupported generated claims.</a:t>
            </a:r>
            <a:endParaRPr lang="en-US" sz="1250" dirty="0"/>
          </a:p>
        </p:txBody>
      </p:sp>
      <p:sp>
        <p:nvSpPr>
          <p:cNvPr id="6" name="Text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8C1116"/>
                </a:solidFill>
                <a:latin typeface="Cambria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Prototype implementation of the retrieval-augmented legal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4533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1.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74519"/>
            <a:ext cx="483717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Court judgments are collected with case, paragraph and citation metadata for</a:t>
            </a:r>
            <a:r>
              <a:rPr lang="en-IN" sz="1050" dirty="0">
                <a:solidFill>
                  <a:srgbClr val="595959"/>
                </a:solidFill>
                <a:latin typeface="Calibri"/>
              </a:rPr>
              <a:t> </a:t>
            </a:r>
            <a:r>
              <a:rPr sz="1050" b="0" dirty="0">
                <a:solidFill>
                  <a:srgbClr val="595959"/>
                </a:solidFill>
                <a:latin typeface="Calibri"/>
              </a:rPr>
              <a:t>searchable legal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54533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2.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874519"/>
            <a:ext cx="4837176" cy="5760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OCR/text cleaning and legal-structure-aware chunking prepare judgments for retrieval.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00837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3. Hybrid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337560"/>
            <a:ext cx="5030544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BM25 lexical search and dense embeddings retrieve complementary passages; reranking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refines the top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8036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300837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4. RAG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337560"/>
            <a:ext cx="4724370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LLM receives the user query together with retrieved evidence and generates a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concise grounded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447141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5. Evidence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800600"/>
            <a:ext cx="4947188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Claims are linked to source passages and weak evidence can trigger a low-confidence /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abstain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43400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4471416"/>
            <a:ext cx="4837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6. Web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800600"/>
            <a:ext cx="5061001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</a:t>
            </a:r>
            <a:r>
              <a:rPr sz="1050" b="0" dirty="0" err="1">
                <a:solidFill>
                  <a:srgbClr val="595959"/>
                </a:solidFill>
                <a:latin typeface="Calibri"/>
              </a:rPr>
              <a:t>LexAI</a:t>
            </a:r>
            <a:r>
              <a:rPr sz="1050" b="0" dirty="0">
                <a:solidFill>
                  <a:srgbClr val="595959"/>
                </a:solidFill>
                <a:latin typeface="Calibri"/>
              </a:rPr>
              <a:t> interface provides search, language selection, AI mode, voice/lens controls and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evidence display.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Calibri"/>
              </a:rPr>
              <a:t>Applied ML for Text Analytics — Legal RAG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8C1116"/>
                </a:solidFill>
                <a:latin typeface="Cambria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LexAI user interface and search controls</a:t>
            </a:r>
          </a:p>
        </p:txBody>
      </p:sp>
      <p:pic>
        <p:nvPicPr>
          <p:cNvPr id="4" name="Picture 3" descr="35ec9043-6f22-4cd4-a856-44239e702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635240" cy="40920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417320"/>
            <a:ext cx="3154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22792" y="1545336"/>
            <a:ext cx="2825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Language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1874519"/>
            <a:ext cx="2829621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interface provides multiple Indian-language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options along with English.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606040"/>
            <a:ext cx="31546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734056"/>
            <a:ext cx="2825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Legal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3063240"/>
            <a:ext cx="3126177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Users can enter statutory or case-related queries and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launch </a:t>
            </a:r>
            <a:r>
              <a:rPr sz="1050" b="0" dirty="0" err="1">
                <a:solidFill>
                  <a:srgbClr val="595959"/>
                </a:solidFill>
                <a:latin typeface="Calibri"/>
              </a:rPr>
              <a:t>LexAI</a:t>
            </a:r>
            <a:r>
              <a:rPr sz="1050" b="0" dirty="0">
                <a:solidFill>
                  <a:srgbClr val="595959"/>
                </a:solidFill>
                <a:latin typeface="Calibri"/>
              </a:rPr>
              <a:t> Search or the quick-search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886200"/>
            <a:ext cx="31546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4014215"/>
            <a:ext cx="2825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AI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4343400"/>
            <a:ext cx="3060453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AI Mode, Voice and Lens controls provide additional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ways to interact with the legal research prototype.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77840"/>
            <a:ext cx="7635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Calibri"/>
              </a:rPr>
              <a:t>Implemented prototype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Calibri"/>
              </a:rPr>
              <a:t>Applied ML for Text Analytics — Legal RAG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8C1116"/>
                </a:solidFill>
                <a:latin typeface="Cambria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Grounded answer generation and source provenance</a:t>
            </a:r>
          </a:p>
        </p:txBody>
      </p:sp>
      <p:pic>
        <p:nvPicPr>
          <p:cNvPr id="4" name="Picture 3" descr="01490d88-a230-4af3-a741-2f8a7effda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818120" cy="41472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25880"/>
            <a:ext cx="3108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8512" y="1453895"/>
            <a:ext cx="27797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AI Overview &amp;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8512" y="1783080"/>
            <a:ext cx="2946640" cy="57708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Retrieved judgment passages are combined into a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concise legal synthesis while retaining the source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606040"/>
            <a:ext cx="3108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68512" y="2734056"/>
            <a:ext cx="27797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Source 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2" y="3063240"/>
            <a:ext cx="2661306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The evidence panel displays the cited dataset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 paragraph and the associated court finding.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886200"/>
            <a:ext cx="3108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68512" y="4014215"/>
            <a:ext cx="27797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Statute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343400"/>
            <a:ext cx="2940228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Cited statutes and legal provisions are surfaced as </a:t>
            </a:r>
            <a:endParaRPr lang="en-IN" sz="1050" b="0" dirty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0" dirty="0">
                <a:solidFill>
                  <a:srgbClr val="595959"/>
                </a:solidFill>
                <a:latin typeface="Calibri"/>
              </a:rPr>
              <a:t>supporting evidence for the retrieved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5166360"/>
            <a:ext cx="310896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633644" y="5207674"/>
            <a:ext cx="2779776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62626"/>
                </a:solidFill>
                <a:latin typeface="Calibri"/>
              </a:rPr>
              <a:t>Implementation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3644" y="5428463"/>
            <a:ext cx="277977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0" dirty="0">
                <a:solidFill>
                  <a:srgbClr val="595959"/>
                </a:solidFill>
                <a:latin typeface="Calibri"/>
              </a:rPr>
              <a:t>Keep generated answers traceable to retrieved legal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Calibri"/>
              </a:rPr>
              <a:t>Applied ML for Text Analytics — Legal RAG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353" y="399474"/>
            <a:ext cx="274145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600" b="1" dirty="0" smtClean="0">
                <a:solidFill>
                  <a:srgbClr val="8C1116"/>
                </a:solidFill>
                <a:latin typeface="Cambria"/>
              </a:rPr>
              <a:t>Implementation</a:t>
            </a:r>
            <a:endParaRPr lang="en-IN" sz="2600" b="1" dirty="0">
              <a:solidFill>
                <a:srgbClr val="8C1116"/>
              </a:solidFill>
              <a:latin typeface="Cambri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642" y="1143585"/>
            <a:ext cx="9313200" cy="4962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9253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3467488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2600" b="1" dirty="0" smtClean="0">
                <a:solidFill>
                  <a:srgbClr val="8C1116"/>
                </a:solidFill>
                <a:latin typeface="Cambria"/>
              </a:rPr>
              <a:t>Comparative Analysis</a:t>
            </a:r>
            <a:endParaRPr sz="2600" b="1" dirty="0">
              <a:solidFill>
                <a:srgbClr val="8C1116"/>
              </a:solidFill>
              <a:latin typeface="Cambri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998" y="1205353"/>
            <a:ext cx="9313200" cy="490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5942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647" y="415516"/>
            <a:ext cx="346748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600" b="1" dirty="0">
                <a:solidFill>
                  <a:srgbClr val="8C1116"/>
                </a:solidFill>
                <a:latin typeface="Cambria"/>
              </a:rPr>
              <a:t>Comparative Analysis</a:t>
            </a:r>
            <a:endParaRPr lang="en-IN" sz="2600" b="1" dirty="0">
              <a:solidFill>
                <a:srgbClr val="8C1116"/>
              </a:solidFill>
              <a:latin typeface="Cambri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89" y="1164632"/>
            <a:ext cx="9172800" cy="515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7204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4836" y="463642"/>
            <a:ext cx="346748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600" b="1" dirty="0">
                <a:solidFill>
                  <a:srgbClr val="8C1116"/>
                </a:solidFill>
                <a:latin typeface="Cambria"/>
              </a:rPr>
              <a:t>Comparative Analysis</a:t>
            </a:r>
            <a:endParaRPr lang="en-IN" sz="2600" b="1" dirty="0">
              <a:solidFill>
                <a:srgbClr val="8C1116"/>
              </a:solidFill>
              <a:latin typeface="Cambri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147" y="1201237"/>
            <a:ext cx="9172800" cy="515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468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2136</Words>
  <Application>Microsoft Office PowerPoint</Application>
  <PresentationFormat>Custom</PresentationFormat>
  <Paragraphs>398</Paragraphs>
  <Slides>25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Alla</cp:lastModifiedBy>
  <cp:revision>4</cp:revision>
  <dcterms:created xsi:type="dcterms:W3CDTF">2026-08-13T05:49:54Z</dcterms:created>
  <dcterms:modified xsi:type="dcterms:W3CDTF">2026-10-08T05:23:12Z</dcterms:modified>
</cp:coreProperties>
</file>